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% de crianças alfabetizadas no 2º ano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Indicador oficial (INEP)</c:v>
                </c:pt>
              </c:strCache>
            </c:strRef>
          </c:tx>
          <c:spPr>
            <a:ln w="34925">
              <a:solidFill>
                <a:srgbClr val="1A253A"/>
              </a:solidFill>
            </a:ln>
          </c:spPr>
          <c:marker>
            <c:spPr>
              <a:solidFill>
                <a:srgbClr val="1A253A"/>
              </a:solidFill>
              <a:ln>
                <a:solidFill>
                  <a:srgbClr val="1A253A"/>
                </a:solidFill>
              </a:ln>
            </c:spPr>
          </c:marker>
          <c:dLbls>
            <c:numFmt formatCode="0.0" sourceLinked="0"/>
            <c:txPr>
              <a:bodyPr/>
              <a:lstStyle/>
              <a:p>
                <a:pPr>
                  <a:defRPr sz="1200" b="1"/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  <c:pt idx="5">
                  <c:v>2028</c:v>
                </c:pt>
                <c:pt idx="6">
                  <c:v>2029</c:v>
                </c:pt>
                <c:pt idx="7">
                  <c:v>2030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55.9</c:v>
                </c:pt>
                <c:pt idx="1">
                  <c:v>59.2</c:v>
                </c:pt>
                <c:pt idx="2">
                  <c:v>66.0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 nacional</c:v>
                </c:pt>
              </c:strCache>
            </c:strRef>
          </c:tx>
          <c:spPr>
            <a:ln w="34925">
              <a:solidFill>
                <a:srgbClr val="E67E22"/>
              </a:solidFill>
              <a:prstDash val="dash"/>
            </a:ln>
          </c:spPr>
          <c:marker>
            <c:spPr>
              <a:solidFill>
                <a:srgbClr val="E67E22"/>
              </a:solidFill>
              <a:ln>
                <a:solidFill>
                  <a:srgbClr val="E67E22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  <c:pt idx="5">
                  <c:v>2028</c:v>
                </c:pt>
                <c:pt idx="6">
                  <c:v>2029</c:v>
                </c:pt>
                <c:pt idx="7">
                  <c:v>2030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1">
                  <c:v>60.0</c:v>
                </c:pt>
                <c:pt idx="2">
                  <c:v>64.0</c:v>
                </c:pt>
                <c:pt idx="3">
                  <c:v>67.0</c:v>
                </c:pt>
                <c:pt idx="4">
                  <c:v>71.0</c:v>
                </c:pt>
                <c:pt idx="5">
                  <c:v>74.0</c:v>
                </c:pt>
                <c:pt idx="6">
                  <c:v>77.0</c:v>
                </c:pt>
                <c:pt idx="7">
                  <c:v>80.0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85.0"/>
          <c:min val="50.0"/>
        </c:scaling>
        <c:delete val="0"/>
        <c:axPos val="l"/>
        <c:majorGridlines>
          <c:spPr>
            <a:ln>
              <a:solidFill>
                <a:srgbClr val="DDE1E6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Quanto do poder de previsão do modelo cada grupo entrega SOZINHO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Poder de previsão entregue sozinho</c:v>
                </c:pt>
              </c:strCache>
            </c:strRef>
          </c:tx>
          <c:dPt>
            <c:idx val="0"/>
            <c:spPr>
              <a:solidFill>
                <a:srgbClr val="8C96A5"/>
              </a:solidFill>
            </c:spPr>
          </c:dPt>
          <c:dPt>
            <c:idx val="1"/>
            <c:spPr>
              <a:solidFill>
                <a:srgbClr val="8C96A5"/>
              </a:solidFill>
            </c:spPr>
          </c:dPt>
          <c:dPt>
            <c:idx val="2"/>
            <c:spPr>
              <a:solidFill>
                <a:srgbClr val="8C96A5"/>
              </a:solidFill>
            </c:spPr>
          </c:dPt>
          <c:dPt>
            <c:idx val="3"/>
            <c:spPr>
              <a:solidFill>
                <a:srgbClr val="8C96A5"/>
              </a:solidFill>
            </c:spPr>
          </c:dPt>
          <c:dPt>
            <c:idx val="4"/>
            <c:spPr>
              <a:solidFill>
                <a:srgbClr val="1A253A"/>
              </a:solidFill>
            </c:spPr>
          </c:dPt>
          <c:cat>
            <c:strRef>
              <c:f>Sheet1!$A$2:$A$6</c:f>
              <c:strCache>
                <c:ptCount val="5"/>
                <c:pt idx="0">
                  <c:v>Escola e rede</c:v>
                </c:pt>
                <c:pt idx="1">
                  <c:v>Território e porte</c:v>
                </c:pt>
                <c:pt idx="2">
                  <c:v>IDHM (socioeconômico)</c:v>
                </c:pt>
                <c:pt idx="3">
                  <c:v>Meta do ano (deriva do histórico)</c:v>
                </c:pt>
                <c:pt idx="4">
                  <c:v>Histórico educacional do município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0.06</c:v>
                </c:pt>
                <c:pt idx="1">
                  <c:v>0.24</c:v>
                </c:pt>
                <c:pt idx="2">
                  <c:v>0.26</c:v>
                </c:pt>
                <c:pt idx="3">
                  <c:v>0.86</c:v>
                </c:pt>
                <c:pt idx="4">
                  <c:v>0.97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4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Os 50 municípios de maior risco previsto, por estado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Municípios no top 50 de risco</c:v>
                </c:pt>
              </c:strCache>
            </c:strRef>
          </c:tx>
          <c:dPt>
            <c:idx val="0"/>
            <c:spPr>
              <a:solidFill>
                <a:srgbClr val="C0392B"/>
              </a:solidFill>
            </c:spPr>
          </c:dPt>
          <c:dPt>
            <c:idx val="1"/>
            <c:spPr>
              <a:solidFill>
                <a:srgbClr val="C0392B"/>
              </a:solidFill>
            </c:spPr>
          </c:dPt>
          <c:dPt>
            <c:idx val="2"/>
            <c:spPr>
              <a:solidFill>
                <a:srgbClr val="8C96A5"/>
              </a:solidFill>
            </c:spPr>
          </c:dPt>
          <c:dPt>
            <c:idx val="3"/>
            <c:spPr>
              <a:solidFill>
                <a:srgbClr val="8C96A5"/>
              </a:solidFill>
            </c:spPr>
          </c:dPt>
          <c:dPt>
            <c:idx val="4"/>
            <c:spPr>
              <a:solidFill>
                <a:srgbClr val="8C96A5"/>
              </a:solidFill>
            </c:spPr>
          </c:dPt>
          <c:dPt>
            <c:idx val="5"/>
            <c:spPr>
              <a:solidFill>
                <a:srgbClr val="8C96A5"/>
              </a:solidFill>
            </c:spPr>
          </c:dPt>
          <c:cat>
            <c:strRef>
              <c:f>Sheet1!$A$2:$A$7</c:f>
              <c:strCache>
                <c:ptCount val="6"/>
                <c:pt idx="0">
                  <c:v>BA</c:v>
                </c:pt>
                <c:pt idx="1">
                  <c:v>RN</c:v>
                </c:pt>
                <c:pt idx="2">
                  <c:v>TO</c:v>
                </c:pt>
                <c:pt idx="3">
                  <c:v>SE</c:v>
                </c:pt>
                <c:pt idx="4">
                  <c:v>PB</c:v>
                </c:pt>
                <c:pt idx="5">
                  <c:v>outras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</c:v>
                </c:pt>
                <c:pt idx="1">
                  <c:v>14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6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Brasil: oficial × modelo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Oficial (INEP)</c:v>
                </c:pt>
              </c:strCache>
            </c:strRef>
          </c:tx>
          <c:spPr>
            <a:ln w="34925">
              <a:solidFill>
                <a:srgbClr val="1A253A"/>
              </a:solidFill>
            </a:ln>
          </c:spPr>
          <c:marker>
            <c:spPr>
              <a:solidFill>
                <a:srgbClr val="1A253A"/>
              </a:solidFill>
              <a:ln>
                <a:solidFill>
                  <a:srgbClr val="1A253A"/>
                </a:solidFill>
              </a:ln>
            </c:spPr>
          </c:marker>
          <c:dLbls>
            <c:numFmt formatCode="0.0" sourceLinked="0"/>
            <c:txPr>
              <a:bodyPr/>
              <a:lstStyle/>
              <a:p>
                <a:pPr>
                  <a:defRPr sz="1200" b="1">
                    <a:solidFill>
                      <a:srgbClr val="1A253A"/>
                    </a:solidFill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55.9</c:v>
                </c:pt>
                <c:pt idx="1">
                  <c:v>59.2</c:v>
                </c:pt>
                <c:pt idx="2">
                  <c:v>66.0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Modelo</c:v>
                </c:pt>
              </c:strCache>
            </c:strRef>
          </c:tx>
          <c:spPr>
            <a:ln w="34925">
              <a:solidFill>
                <a:srgbClr val="E67E22"/>
              </a:solidFill>
            </a:ln>
          </c:spPr>
          <c:marker>
            <c:spPr>
              <a:solidFill>
                <a:srgbClr val="E67E22"/>
              </a:solidFill>
              <a:ln>
                <a:solidFill>
                  <a:srgbClr val="E67E22"/>
                </a:solidFill>
              </a:ln>
            </c:spPr>
          </c:marker>
          <c:dLbls>
            <c:numFmt formatCode="0.0" sourceLinked="0"/>
            <c:txPr>
              <a:bodyPr/>
              <a:lstStyle/>
              <a:p>
                <a:pPr>
                  <a:defRPr sz="1200" b="1">
                    <a:solidFill>
                      <a:srgbClr val="E67E22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1">
                  <c:v>59.34</c:v>
                </c:pt>
                <c:pt idx="2">
                  <c:v>61.1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8.0"/>
          <c:min val="54.0"/>
        </c:scaling>
        <c:delete val="0"/>
        <c:axPos val="l"/>
        <c:majorGridlines>
          <c:spPr>
            <a:ln>
              <a:solidFill>
                <a:srgbClr val="DDE1E6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Olá. Eu sou Felipe Barbato de Biaggio, e este é o Case 3 do Tech Challenge. Vou mostrar como antecipar, antes da prova, quais crianças e quais municípios estão em risco de não se alfabetizar.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Brasil se comprometeu a alfabetizar todas as crianças até o fim do segundo ano, até 2030. O indicador nacional avançou: de 56% em 2023 para 66% em 2025. Mesmo assim, uma em cada três crianças ainda termina o segundo ano sem estar alfabetizada, e quase metade dos municípios ficou abaixo da própria meta em 2024. O problema é de tempo: quando o resultado sai, o ano letivo já acabou. A nossa pergunta foi: com o que já se sabe no início do ano, dá para antecipar onde está o risco?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Usamos a base construída na fase anterior, com 1,85 milhão de alunos avaliados em 2024, e treinamos um modelo que estima, para cada aluno, a chance de se alfabetizar. Somando os alunos de um município, temos a taxa esperada, que comparamos com a meta. A regra de ouro: o modelo só usa o que existe antes da prova, como o desempenho do município no ano anterior, a meta, a escola e o IDHM. Nada do resultado que queremos prever.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que confiar? Primeiro, testamos o modelo em 1.164 municípios que ele nunca viu. Segundo, comparamos três algoritmos e ficamos com o mais simples entre os empatados, uma regressão logística, que dá para explicar a qualquer gestor. Terceiro, as probabilidades são confiáveis: em 2024, o modelo previu 59,3% de alfabetização no Brasil, e o número oficial foi 59,2%. E tudo é reproduzível: refazendo o projeto do zero, os números saem idênticos.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principal achado: o que mais pesa no resultado de uma criança é o histórico educacional do município. Só com o histórico do ano anterior, ou seja, a taxa de alfabetização, a proficiência e a participação na prova, o modelo entrega 97% do seu poder de previsão. O IDHM, sozinho, entrega 26%. Para a gestão: as alavancas mais fortes são educacionais, como formação, material e acompanhamento, e respondem em um ano letivo.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Agrupamos os municípios em três perfis. O de maior alfabetização não é o mais rico: tem IDHM Educação menor que o perfil intermediário e alfabetiza 21 pontos a mais. O caso mais claro é o Ceará: 93% dos municípios estão nesse perfil, com média de 90% de crianças alfabetizadas. O estado tem programa próprio de alfabetização desde 2007. Contexto desfavorável não é destino, e isso mostra onde buscar práticas para replicar.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Individualmente, o modelo erra bastante: ele não conhece a criança, só o contexto. Mas para priorizar, ele funciona. Se um programa só consegue atender 20% dos alunos, escolhendo pelo modelo ele encontra uma vez e meia mais crianças em risco do que escolhendo ao acaso. E o risco está concentrado: Bahia e Rio Grande do Norte somam 66% dos 50 municípios de maior risco.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Também testamos no passado: com dados de 2023, o modelo apontou os municípios que ficariam abaixo da meta de 2024, e seis em cada dez alertas se confirmaram. Para 2025, tivemos uma validação real: o resultado nacional já saiu, 66%. O modelo projetou 61%: acertou a direção, mas subestimou o avanço. Por isso apresentamos dois cenários: entre 1.757 e 2.382 municípios com risco de ficar abaixo da meta. A ordem de prioridade é a mesma nos dois.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Como isso apoia a política pública? São três usos. Priorizar municípios antes do ano letivo. Alertar sobre metas, a tempo de pactuar apoio. E monitorar a cada ano, porque a base se atualiza a cada divulgação do INEP. Com um cuidado importante: o modelo indica onde concentrar apoio, nunca quem punir.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Resumindo: o histórico educacional é o melhor sinal de risco, contexto desfavorável não é destino, e com o que já sabemos dá para agir antes da prova. Os próximos passos são incluir o Censo Escolar e o CadÚnico, revalidar com os dados de 2025 e fazer um piloto com uma secretaria. Obrigado.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143000"/>
            <a:ext cx="1219169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i="0">
                <a:solidFill>
                  <a:srgbClr val="AACCFF"/>
                </a:solidFill>
                <a:latin typeface="Calibri"/>
              </a:rPr>
              <a:t>Case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Quem está em risco de não se alfabetizar?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 i="0">
                <a:solidFill>
                  <a:srgbClr val="AACCFF"/>
                </a:solidFill>
                <a:latin typeface="Calibri"/>
              </a:rPr>
              <a:t>Predição e inteligência analítica para agir antes da prova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7448" y="3931920"/>
            <a:ext cx="2743200" cy="36576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206240"/>
            <a:ext cx="121916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AACCFF"/>
                </a:solidFill>
                <a:latin typeface="Calibri"/>
              </a:rPr>
              <a:t>Pós-Tech FIAP  |  1IAST  |  Tech Challenge Fase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617720"/>
            <a:ext cx="12191695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  <a:latin typeface="Calibri"/>
              </a:rPr>
              <a:t>Felipe Barbato de Biaggio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CCFF"/>
                </a:solidFill>
                <a:latin typeface="Calibri"/>
              </a:rPr>
              <a:t>O PROBLEMA EDUCACIONAL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34% das crianças ainda saem do 2º ano sem se alfabetizar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Tech Challenge Fase 3  |  Predição e Inteligência Analítica para Alfabetização no Brasil  |  Pós-Tech FIAP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1E8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18488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1A253A"/>
                </a:solidFill>
                <a:latin typeface="Calibri"/>
              </a:rPr>
              <a:t>66,0%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50008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alfabetizadas no Brasil em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24912"/>
            <a:ext cx="2468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  <a:latin typeface="Calibri"/>
              </a:rPr>
              <a:t>55,9% em 2023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91840"/>
            <a:ext cx="274320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401568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1A253A"/>
                </a:solidFill>
                <a:latin typeface="Calibri"/>
              </a:rPr>
              <a:t>46%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33088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dos municípios ficaram abaixo da própria meta em 2024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74920"/>
            <a:ext cx="27432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184648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
                  <a:srgbClr val="1A253A"/>
                </a:solidFill>
                <a:latin typeface="Calibri"/>
              </a:rP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916168"/>
            <a:ext cx="246888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meta nacional para 2030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3566160" y="1463040"/>
          <a:ext cx="484632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8686800" y="1463040"/>
            <a:ext cx="306324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15400" y="1600200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A pergunta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029968"/>
            <a:ext cx="260604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Quando o resultado sai, o ano letivo já acabou.</a:t>
            </a:r>
          </a:p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/>
            </a:r>
          </a:p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Com o que já se sabe no início do ano, dá para antecipar quais alunos e quais municípios estão em risco — a tempo de agir?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349240"/>
            <a:ext cx="8229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8C96A5"/>
                </a:solidFill>
                <a:latin typeface="Calibri"/>
              </a:rPr>
              <a:t>Indicador Criança Alfabetizada (INEP): % de alunos com ao menos 743 pontos na escala Saeb ao fim do 2º ano. Meta do Compromisso Nacional Criança Alfabetizada.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CCFF"/>
                </a:solidFill>
                <a:latin typeface="Calibri"/>
              </a:rPr>
              <a:t>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Um modelo que só usa o que existe antes da prova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Tech Challenge Fase 3  |  Predição e Inteligência Analítica para Alfabetização no Brasil  |  Pós-Tech FIAP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2514600" cy="1508760"/>
          </a:xfrm>
          <a:prstGeom prst="roundRect">
            <a:avLst>
              <a:gd name="adj" fmla="val 6000"/>
            </a:avLst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Base da Fase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1.851.852 alunos de 2024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+ municípios, metas e IDHM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26664" y="2304288"/>
            <a:ext cx="320040" cy="0"/>
          </a:xfrm>
          <a:prstGeom prst="line">
            <a:avLst/>
          </a:prstGeom>
          <a:ln w="31750">
            <a:solidFill>
              <a:srgbClr val="8C96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401568" y="1554480"/>
            <a:ext cx="2514600" cy="150876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69164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Modelo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93008" y="214884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chance de cada aluno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atingir a alfabetização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71032" y="2304288"/>
            <a:ext cx="320040" cy="0"/>
          </a:xfrm>
          <a:prstGeom prst="line">
            <a:avLst/>
          </a:prstGeom>
          <a:ln w="31750">
            <a:solidFill>
              <a:srgbClr val="8C96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45936" y="1554480"/>
            <a:ext cx="2514600" cy="1508760"/>
          </a:xfrm>
          <a:prstGeom prst="roundRect">
            <a:avLst>
              <a:gd name="adj" fmla="val 6000"/>
            </a:avLst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69164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Município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14884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taxa esperada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comparada com a meta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915400" y="2304288"/>
            <a:ext cx="320040" cy="0"/>
          </a:xfrm>
          <a:prstGeom prst="line">
            <a:avLst/>
          </a:prstGeom>
          <a:ln w="31750">
            <a:solidFill>
              <a:srgbClr val="8C96A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90304" y="1554480"/>
            <a:ext cx="2514600" cy="1508760"/>
          </a:xfrm>
          <a:prstGeom prst="roundRect">
            <a:avLst>
              <a:gd name="adj" fmla="val 6000"/>
            </a:avLst>
          </a:prstGeom>
          <a:solidFill>
            <a:srgbClr val="1E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0304" y="1691640"/>
            <a:ext cx="2514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Calibri"/>
              </a:rPr>
              <a:t>Gestão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4" y="2148840"/>
            <a:ext cx="23317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onde agir primeiro,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antes da prova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429000"/>
            <a:ext cx="557784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E8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566160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E8B4C"/>
                </a:solidFill>
                <a:latin typeface="Calibri"/>
              </a:rPr>
              <a:t>O que o modelo usa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995928"/>
            <a:ext cx="51206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977639"/>
            <a:ext cx="5212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1E8B4C"/>
                </a:solidFill>
                <a:latin typeface="Calibri"/>
              </a:rPr>
              <a:t>▶  </a:t>
            </a:r>
            <a:r>
              <a:rPr sz="1400">
                <a:solidFill>
                  <a:srgbClr val="333333"/>
                </a:solidFill>
                <a:latin typeface="Calibri"/>
              </a:rPr>
              <a:t>Desempenho do município no ano anterior (taxa, proficiência, participação)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8B4C"/>
                </a:solidFill>
                <a:latin typeface="Calibri"/>
              </a:rPr>
              <a:t>▶  </a:t>
            </a:r>
            <a:r>
              <a:rPr sz="1400">
                <a:solidFill>
                  <a:srgbClr val="333333"/>
                </a:solidFill>
                <a:latin typeface="Calibri"/>
              </a:rPr>
              <a:t>Meta do ano e o esforço para atingi-la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8B4C"/>
                </a:solidFill>
                <a:latin typeface="Calibri"/>
              </a:rPr>
              <a:t>▶  </a:t>
            </a:r>
            <a:r>
              <a:rPr sz="1400">
                <a:solidFill>
                  <a:srgbClr val="333333"/>
                </a:solidFill>
                <a:latin typeface="Calibri"/>
              </a:rPr>
              <a:t>Porte da escola e rede de ensino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1E8B4C"/>
                </a:solidFill>
                <a:latin typeface="Calibri"/>
              </a:rPr>
              <a:t>▶  </a:t>
            </a:r>
            <a:r>
              <a:rPr sz="1400">
                <a:solidFill>
                  <a:srgbClr val="333333"/>
                </a:solidFill>
                <a:latin typeface="Calibri"/>
              </a:rPr>
              <a:t>IDHM — educação, renda e longevidade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429000"/>
            <a:ext cx="548640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5661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C0392B"/>
                </a:solidFill>
                <a:latin typeface="Calibri"/>
              </a:rPr>
              <a:t>O que o modelo NÃO usa — e por quê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995928"/>
            <a:ext cx="502920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977639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▶  </a:t>
            </a:r>
            <a:r>
              <a:rPr sz="1400">
                <a:solidFill>
                  <a:srgbClr val="333333"/>
                </a:solidFill>
                <a:latin typeface="Calibri"/>
              </a:rPr>
              <a:t>A nota do próprio aluno: ela define o resultado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▶  </a:t>
            </a:r>
            <a:r>
              <a:rPr sz="1400">
                <a:solidFill>
                  <a:srgbClr val="333333"/>
                </a:solidFill>
                <a:latin typeface="Calibri"/>
              </a:rPr>
              <a:t>O indicador do município no mesmo ano: inclui o próprio aluno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C0392B"/>
                </a:solidFill>
                <a:latin typeface="Calibri"/>
              </a:rPr>
              <a:t>▶  </a:t>
            </a:r>
            <a:r>
              <a:rPr sz="1400">
                <a:solidFill>
                  <a:srgbClr val="333333"/>
                </a:solidFill>
                <a:latin typeface="Calibri"/>
              </a:rPr>
              <a:t>O estado do aluno: com um ano de treino, aprenderia o choque daquele ano (ex.: enchentes no RS)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943600"/>
            <a:ext cx="11292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8C96A5"/>
                </a:solidFill>
                <a:latin typeface="Calibri"/>
              </a:rPr>
              <a:t>Cada escolha está documentada com evidência em docs/decisoes_analiticas.md (22 decisões) e protegida por testes automáticos que falham se uma variável proibida entrar no modelo.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CCFF"/>
                </a:solidFill>
                <a:latin typeface="Calibri"/>
              </a:rPr>
              <a:t>RIGOR DA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Por que confiar no resultado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Tech Challenge Fase 3  |  Predição e Inteligência Analítica para Alfabetização no Brasil  |  Pós-Tech FIAP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1581912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508760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53A"/>
                </a:solidFill>
                <a:latin typeface="Calibri"/>
              </a:rPr>
              <a:t>Testado onde nunca viu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892808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333333"/>
                </a:solidFill>
                <a:latin typeface="Calibri"/>
              </a:rPr>
              <a:t>1.164 municípios separados antes de tudo — mede se funciona num município novo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770632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97480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53A"/>
                </a:solidFill>
                <a:latin typeface="Calibri"/>
              </a:rPr>
              <a:t>O mais simples entre os empatados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081528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333333"/>
                </a:solidFill>
                <a:latin typeface="Calibri"/>
              </a:rPr>
              <a:t>3 algoritmos otimizados e comparados; ficou a regressão logística, explicável a qualquer gestor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3959352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86200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53A"/>
                </a:solidFill>
                <a:latin typeface="Calibri"/>
              </a:rPr>
              <a:t>Probabilidades confiáveis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270248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333333"/>
                </a:solidFill>
                <a:latin typeface="Calibri"/>
              </a:rPr>
              <a:t>Brasil 2024: previsto 59,3%, oficial 59,2%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5148072"/>
            <a:ext cx="502920" cy="50292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074920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1A253A"/>
                </a:solidFill>
                <a:latin typeface="Calibri"/>
              </a:rPr>
              <a:t>Reproduzível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458968"/>
            <a:ext cx="51206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 i="0">
                <a:solidFill>
                  <a:srgbClr val="333333"/>
                </a:solidFill>
                <a:latin typeface="Calibri"/>
              </a:rPr>
              <a:t>refeito do zero a partir do repositório: números idênticos; 59 testes automáticos</a:t>
            </a:r>
          </a:p>
        </p:txBody>
      </p:sp>
      <p:pic>
        <p:nvPicPr>
          <p:cNvPr id="20" name="Picture 19" descr="07_calib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371600"/>
            <a:ext cx="4847208" cy="4572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20840" y="59893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8C96A5"/>
                </a:solidFill>
                <a:latin typeface="Calibri"/>
              </a:rPr>
              <a:t>ROC-AUC no teste: 0,63 (IC 95%: 0,59–0,65) · palpite trivial: 0,50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CCFF"/>
                </a:solidFill>
                <a:latin typeface="Calibri"/>
              </a:rPr>
              <a:t>PRINCIPAIS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 que mais pesa: o histórico educacional do município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Tech Challenge Fase 3  |  Predição e Inteligência Analítica para Alfabetização no Brasil  |  Pós-Tech FIAP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" y="1463040"/>
          <a:ext cx="676656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6053328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i="1">
                <a:solidFill>
                  <a:srgbClr val="8C96A5"/>
                </a:solidFill>
                <a:latin typeface="Calibri"/>
              </a:rPr>
              <a:t>Ablação: modelo retreinado só com cada grupo, em validação cruzada agrupada por município.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1600200"/>
            <a:ext cx="4297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A253A"/>
                </a:solidFill>
                <a:latin typeface="Calibri"/>
              </a:rPr>
              <a:t>97%</a:t>
            </a:r>
            <a:r>
              <a:rPr sz="1800" b="0">
                <a:solidFill>
                  <a:srgbClr val="333333"/>
                </a:solidFill>
                <a:latin typeface="Calibri"/>
              </a:rPr>
              <a:t> do poder de previsão vem do histórico educacional do município no ano anterior.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880360"/>
            <a:ext cx="42976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333333"/>
                </a:solidFill>
                <a:latin typeface="Calibri"/>
              </a:rPr>
              <a:t>O IDHM, sozinho, entrega só </a:t>
            </a:r>
            <a:r>
              <a:rPr sz="1800" b="1">
                <a:solidFill>
                  <a:srgbClr val="C0392B"/>
                </a:solidFill>
                <a:latin typeface="Calibri"/>
              </a:rPr>
              <a:t>26%</a:t>
            </a:r>
            <a:r>
              <a:rPr sz="1800" b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79" y="3977639"/>
            <a:ext cx="425196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E8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79" y="4114799"/>
            <a:ext cx="3794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E8B4C"/>
                </a:solidFill>
                <a:latin typeface="Calibri"/>
              </a:rPr>
              <a:t>Para a gestão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544567"/>
            <a:ext cx="379476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As alavancas de maior efeito são educacionais — formação, material, acompanhamento — e respondem em um ano letivo. Indicadores socioeconômicos levam uma década para mudar.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CCFF"/>
                </a:solidFill>
                <a:latin typeface="Calibri"/>
              </a:rPr>
              <a:t>PADRÕES SEMELHANTES ENTRE MUNICÍPIOS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Contexto desfavorável não é destino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Tech Challenge Fase 3  |  Predição e Inteligência Analítica para Alfabetização no Brasil  |  Pós-Tech FIAP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242316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1E8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459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1E8B4C"/>
                </a:solidFill>
                <a:latin typeface="Calibri"/>
              </a:rPr>
              <a:t>Perfil de alta alfabetização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57400"/>
            <a:ext cx="2423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1A253A"/>
                </a:solidFill>
                <a:latin typeface="Calibri"/>
              </a:rPr>
              <a:t>83%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9748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alfabetizados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1A253A"/>
                </a:solidFill>
                <a:latin typeface="Calibri"/>
              </a:rPr>
              <a:t>0,55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639312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IDHM Educação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11480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C96A5"/>
                </a:solidFill>
                <a:latin typeface="Calibri"/>
              </a:rPr>
              <a:t>1.618 municípios</a:t>
            </a:r>
          </a:p>
          <a:p>
            <a:pPr algn="ctr"/>
            <a:r>
              <a:rPr sz="1200" b="0" i="0">
                <a:solidFill>
                  <a:srgbClr val="8C96A5"/>
                </a:solidFill>
                <a:latin typeface="Calibri"/>
              </a:rPr>
              <a:t>46% dos municípios do Centro-Oeste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1508760"/>
            <a:ext cx="242316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16459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2E86C1"/>
                </a:solidFill>
                <a:latin typeface="Calibri"/>
              </a:rPr>
              <a:t>Perfil intermediário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2057400"/>
            <a:ext cx="2423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1A253A"/>
                </a:solidFill>
                <a:latin typeface="Calibri"/>
              </a:rPr>
              <a:t>62%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269748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alfabetizados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200400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1A253A"/>
                </a:solidFill>
                <a:latin typeface="Calibri"/>
              </a:rPr>
              <a:t>0,64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639312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IDHM Educação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11480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C96A5"/>
                </a:solidFill>
                <a:latin typeface="Calibri"/>
              </a:rPr>
              <a:t>2.013 municípios</a:t>
            </a:r>
          </a:p>
          <a:p>
            <a:pPr algn="ctr"/>
            <a:r>
              <a:rPr sz="1200" b="0" i="0">
                <a:solidFill>
                  <a:srgbClr val="8C96A5"/>
                </a:solidFill>
                <a:latin typeface="Calibri"/>
              </a:rPr>
              <a:t>68% dos municípios do Sul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1508760"/>
            <a:ext cx="242316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0" y="1645920"/>
            <a:ext cx="2423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  <a:latin typeface="Calibri"/>
              </a:rPr>
              <a:t>Perfil de maior risco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2057400"/>
            <a:ext cx="24231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1A253A"/>
                </a:solidFill>
                <a:latin typeface="Calibri"/>
              </a:rPr>
              <a:t>45%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697480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alfabetizados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200400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1A253A"/>
                </a:solidFill>
                <a:latin typeface="Calibri"/>
              </a:rPr>
              <a:t>0,47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3639312"/>
            <a:ext cx="2423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333333"/>
                </a:solidFill>
                <a:latin typeface="Calibri"/>
              </a:rPr>
              <a:t>IDHM Educação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4114800"/>
            <a:ext cx="2148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8C96A5"/>
                </a:solidFill>
                <a:latin typeface="Calibri"/>
              </a:rPr>
              <a:t>1.717 municípios</a:t>
            </a:r>
          </a:p>
          <a:p>
            <a:pPr algn="ctr"/>
            <a:r>
              <a:rPr sz="1200" b="0" i="0">
                <a:solidFill>
                  <a:srgbClr val="8C96A5"/>
                </a:solidFill>
                <a:latin typeface="Calibri"/>
              </a:rPr>
              <a:t>72% dos municípios do Norte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1508760"/>
            <a:ext cx="333756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1E8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1618488"/>
            <a:ext cx="33375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1A253A"/>
                </a:solidFill>
                <a:latin typeface="Calibri"/>
              </a:rPr>
              <a:t>93%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2350008"/>
            <a:ext cx="3063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dos municípios do Ceará estão no perfil de alta alfabetização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227832"/>
            <a:ext cx="3063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  <a:latin typeface="Calibri"/>
              </a:rPr>
              <a:t>média de 90% alfabetizados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3794760"/>
            <a:ext cx="333756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E8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1080" y="3931920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E8B4C"/>
                </a:solidFill>
                <a:latin typeface="Calibri"/>
              </a:rPr>
              <a:t>Onde buscar o que funciona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4361688"/>
            <a:ext cx="28803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O Ceará mantém programa próprio de alfabetização desde 2007 (PAIC), referência para o Compromisso Nacional. Associação, não prova de causa — mas aponta práticas para replicar.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349240"/>
            <a:ext cx="7680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1A253A"/>
                </a:solidFill>
                <a:latin typeface="Calibri"/>
              </a:rPr>
              <a:t>O perfil de maior alfabetização tem IDHM Educação MENOR que o intermediário — e alfabetiza 21 pontos a mais. Perfis formados por agrupamento (KMeans) sobre resultado, proficiência, desigualdade interna, participação e IDHM.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CCFF"/>
                </a:solidFill>
                <a:latin typeface="Calibri"/>
              </a:rPr>
              <a:t>VALOR ESTRATÉGICO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Onde agir primeiro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Tech Challenge Fase 3  |  Predição e Inteligência Analítica para Alfabetização no Brasil  |  Pós-Tech FIAP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34747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1E8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18488"/>
            <a:ext cx="3474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400" b="1" i="0">
                <a:solidFill>
                  <a:srgbClr val="1A253A"/>
                </a:solidFill>
                <a:latin typeface="Calibri"/>
              </a:rPr>
              <a:t>1,5×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50008"/>
            <a:ext cx="3200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mais crianças em risco encontradas ao atender os 20% indicados pelo modelo, contra uma escolha ao acaso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364992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1E8B4C"/>
                </a:solidFill>
                <a:latin typeface="Calibri"/>
              </a:rPr>
              <a:t>IC 95%: 1,36–1,49×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93192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041648"/>
            <a:ext cx="3474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1A253A"/>
                </a:solidFill>
                <a:latin typeface="Calibri"/>
              </a:rPr>
              <a:t>0,74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773168"/>
            <a:ext cx="3200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correlação entre a taxa prevista e a real dos municípios em 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925312"/>
            <a:ext cx="3200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2E86C1"/>
                </a:solidFill>
                <a:latin typeface="Calibri"/>
              </a:rPr>
              <a:t>o valor está no agregado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297680" y="1463040"/>
          <a:ext cx="74523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297680" y="5577840"/>
            <a:ext cx="7452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1A253A"/>
                </a:solidFill>
                <a:latin typeface="Calibri"/>
              </a:rPr>
              <a:t>BA e RN concentram 66% da lista. Ranking com predições fora da amostra: cada município avaliado por um modelo que nunca viu seus alunos.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CCFF"/>
                </a:solidFill>
                <a:latin typeface="Calibri"/>
              </a:rPr>
              <a:t>VALOR ESTRATÉGICO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Antecipar quem não vai bater a meta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Tech Challenge Fase 3  |  Predição e Inteligência Analítica para Alfabetização no Brasil  |  Pós-Tech FIAP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3749039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32918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2E86C1"/>
                </a:solidFill>
                <a:latin typeface="Calibri"/>
              </a:rPr>
              <a:t>Teste no passado (2024)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075688"/>
            <a:ext cx="3291839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Com dados de 2023, o modelo apontou os municípios que ficariam abaixo da meta de 2024: 61% dos alertas se confirmaram, e o alerta encontrou 61% dos 2.169 municípios que de fato ficaram abaixo.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434840" y="1463040"/>
          <a:ext cx="384048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457200" y="3931920"/>
            <a:ext cx="3749039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329183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67E22"/>
                </a:solidFill>
                <a:latin typeface="Calibri"/>
              </a:rPr>
              <a:t>Validação real em 2025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98848"/>
            <a:ext cx="3291839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O modelo projetou 61,1% para o Brasil; o oficial saiu 66,0%. Acertou a direção, subestimou o avanço — por isso a projeção vem em dois cenários.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1508760"/>
            <a:ext cx="3246120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618488"/>
            <a:ext cx="3246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1A253A"/>
                </a:solidFill>
                <a:latin typeface="Calibri"/>
              </a:rPr>
              <a:t>2.382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350008"/>
            <a:ext cx="29718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municípios abaixo da meta de 2025 no cenário pessimista (modelo puro)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3931920"/>
            <a:ext cx="3246120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4041648"/>
            <a:ext cx="32461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1A253A"/>
                </a:solidFill>
                <a:latin typeface="Calibri"/>
              </a:rPr>
              <a:t>1.757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4773168"/>
            <a:ext cx="29718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333333"/>
                </a:solidFill>
                <a:latin typeface="Calibri"/>
              </a:rPr>
              <a:t>no cenário ajustado ao Brasil 2025 oficial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592531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E67E22"/>
                </a:solidFill>
                <a:latin typeface="Calibri"/>
              </a:rPr>
              <a:t>de 4.760 · mesma ordem de prioridade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5257800"/>
            <a:ext cx="3840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8C96A5"/>
                </a:solidFill>
                <a:latin typeface="Calibri"/>
              </a:rPr>
              <a:t>Os microdados param em 2024; o indicador nacional de 2025 permitiu testar a projeção fora do tempo.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9144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CCFF"/>
                </a:solidFill>
                <a:latin typeface="Calibri"/>
              </a:rPr>
              <a:t>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"/>
            <a:ext cx="113385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Como o modelo apoia a política pública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AACCFF"/>
                </a:solidFill>
                <a:latin typeface="Calibri"/>
              </a:rPr>
              <a:t>Tech Challenge Fase 3  |  Predição e Inteligência Analítica para Alfabetização no Brasil  |  Pós-Tech FIAP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08760"/>
            <a:ext cx="361188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19072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1A253A"/>
                </a:solidFill>
                <a:latin typeface="Calibri"/>
              </a:rPr>
              <a:t>Priorizar antes do ano letivo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3154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Ranking de risco para direcionar formação de professores, material estruturado e acompanhamento técnico aos municípios que mais precisam.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1" y="1508760"/>
            <a:ext cx="361188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07991" y="1691640"/>
            <a:ext cx="548640" cy="548640"/>
          </a:xfrm>
          <a:prstGeom prst="ellipse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1" y="1719072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1A253A"/>
                </a:solidFill>
                <a:latin typeface="Calibri"/>
              </a:rPr>
              <a:t>Alertar sobre metas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1" y="2423160"/>
            <a:ext cx="3154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Lista de municípios com risco de não atingir a meta do ano, a tempo de pactuar apoio — em vez de descobrir depois do resultado.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2" y="1508760"/>
            <a:ext cx="361188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E8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30182" y="1691640"/>
            <a:ext cx="548640" cy="548640"/>
          </a:xfrm>
          <a:prstGeom prst="ellipse">
            <a:avLst/>
          </a:prstGeom>
          <a:solidFill>
            <a:srgbClr val="1E8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2" y="1719072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1A253A"/>
                </a:solidFill>
                <a:latin typeface="Calibri"/>
              </a:rPr>
              <a:t>Monitorar a cada ano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2" y="2423160"/>
            <a:ext cx="31546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333333"/>
                </a:solidFill>
                <a:latin typeface="Calibri"/>
              </a:rPr>
              <a:t>A pipeline da Fase 2 atualiza a base a cada divulgação do INEP; o modelo reavalia o risco e recalibra o nível sem trabalho manual.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72000"/>
            <a:ext cx="11292840" cy="1691640"/>
          </a:xfrm>
          <a:prstGeom prst="roundRect">
            <a:avLst>
              <a:gd name="adj" fmla="val 6000"/>
            </a:avLst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63440"/>
            <a:ext cx="1069848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>
                <a:solidFill>
                  <a:srgbClr val="AACCFF"/>
                </a:solidFill>
                <a:latin typeface="Calibri"/>
              </a:rPr>
              <a:t>Uso responsável:  </a:t>
            </a:r>
            <a:r>
              <a:rPr sz="1700" b="0">
                <a:solidFill>
                  <a:srgbClr val="FFFFFF"/>
                </a:solidFill>
                <a:latin typeface="Calibri"/>
              </a:rPr>
              <a:t>o modelo indica onde concentrar APOIO, nunca quem punir. O erro individual é alto — a predição não deve reduzir recursos de um município nem rotular uma criança. A decisão final é da equipe que conhece o território.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Em resumo</a:t>
            </a:r>
          </a:p>
        </p:txBody>
      </p:sp>
      <p:sp>
        <p:nvSpPr>
          <p:cNvPr id="4" name="Oval 3"/>
          <p:cNvSpPr/>
          <p:nvPr/>
        </p:nvSpPr>
        <p:spPr>
          <a:xfrm>
            <a:off x="594360" y="150876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O histórico educacional é o melhor sinal de risco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2024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AACCFF"/>
                </a:solidFill>
                <a:latin typeface="Calibri"/>
              </a:rPr>
              <a:t>97% do poder de previsão</a:t>
            </a:r>
          </a:p>
        </p:txBody>
      </p:sp>
      <p:sp>
        <p:nvSpPr>
          <p:cNvPr id="7" name="Oval 6"/>
          <p:cNvSpPr/>
          <p:nvPr/>
        </p:nvSpPr>
        <p:spPr>
          <a:xfrm>
            <a:off x="594360" y="256032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Contexto desfavorável não é destino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7180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AACCFF"/>
                </a:solidFill>
                <a:latin typeface="Calibri"/>
              </a:rPr>
              <a:t>Ceará: 93% dos municípios no perfil de topo</a:t>
            </a:r>
          </a:p>
        </p:txBody>
      </p:sp>
      <p:sp>
        <p:nvSpPr>
          <p:cNvPr id="10" name="Oval 9"/>
          <p:cNvSpPr/>
          <p:nvPr/>
        </p:nvSpPr>
        <p:spPr>
          <a:xfrm>
            <a:off x="594360" y="3611880"/>
            <a:ext cx="548640" cy="548640"/>
          </a:xfrm>
          <a:prstGeom prst="ellipse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566160"/>
            <a:ext cx="6858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Dá para agir antes da prova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023360"/>
            <a:ext cx="6858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AACCFF"/>
                </a:solidFill>
                <a:latin typeface="Calibri"/>
              </a:rPr>
              <a:t>1,5× mais crianças em risco encontradas na priorização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417320"/>
            <a:ext cx="3246120" cy="2331720"/>
          </a:xfrm>
          <a:prstGeom prst="roundRect">
            <a:avLst>
              <a:gd name="adj" fmla="val 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32520" y="155448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Próximos passos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2011680"/>
            <a:ext cx="2880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AACCFF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Censo Escolar e CadÚnico na base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ACCFF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Revalidar com os dados de 2025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AACCFF"/>
                </a:solidFill>
                <a:latin typeface="Calibri"/>
              </a:rPr>
              <a:t>▶  </a:t>
            </a:r>
            <a:r>
              <a:rPr sz="1400">
                <a:solidFill>
                  <a:srgbClr val="FFFFFF"/>
                </a:solidFill>
                <a:latin typeface="Calibri"/>
              </a:rPr>
              <a:t>Piloto com uma secretaria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0" y="598932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Obrigado  |  Felipe Barbato de Biaggio  |  Pós-Tech FIAP  |  1IAST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