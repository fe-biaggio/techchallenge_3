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Quem está em risco de não se alfabetizar?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ACCFF"/>
                </a:solidFill>
                <a:latin typeface="Calibri"/>
              </a:rPr>
              <a:t>Predição e inteligência analítica para antecipar o risco e priorizar onde agir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977639"/>
            <a:ext cx="3931920" cy="36576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CCFF"/>
                </a:solidFill>
                <a:latin typeface="Calibri"/>
              </a:rPr>
              <a:t>Pós-Tech FIAP  |  1IAST  |  Tech Challenge Fase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PROBLEMA EDUCACIONAL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Avançamos, mas 34% das crianças ainda não se alfabetizam no 2º ano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1.851.852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2316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alunos do 2º ano avaliados em 2024 (com prova válida)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691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66,0%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242316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Indicador Criança Alfabetizada — Brasil, 2025 (INEP)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3035808"/>
            <a:ext cx="3346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39C12"/>
                </a:solidFill>
                <a:latin typeface="Calibri"/>
              </a:rPr>
              <a:t>55,9% em 2023 · meta 2030: 80%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691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42316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dos municípios (rede municipal) ficaram abaixo da própria meta em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1A253A"/>
                </a:solidFill>
                <a:latin typeface="Calibri"/>
              </a:rPr>
              <a:t>O indicador agregado diz onde estamos, mas chega tarde: quando o resultado sai, o ano letivo já acabou.</a:t>
            </a:r>
          </a:p>
          <a:p>
            <a:pPr algn="l"/>
            <a:r>
              <a:rPr sz="1700" b="0" i="1">
                <a:solidFill>
                  <a:srgbClr val="1A253A"/>
                </a:solidFill>
                <a:latin typeface="Calibri"/>
              </a:rPr>
              <a:t>A pergunta desta fase é outra — com o que já se sabe ANTES da prova, dá para antecipar quais alunos e quais municípios estão em risco, a tempo de agir?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 abordagem: um modelo que só usa o que existe antes da prova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82296" cy="21945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O que o modelo prevê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57400"/>
            <a:ext cx="5074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Para cada aluno do 2º ano: a probabilidade de atingir o patamar de alfabetização.</a:t>
            </a:r>
          </a:p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Somando os alunos de um município, a taxa esperada — comparável com a meta.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508760"/>
            <a:ext cx="82296" cy="219456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63677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Com quais informações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057400"/>
            <a:ext cx="5074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16 variáveis da base construída na Fase 2: desempenho do município no ano anterior, meta do ano, esforço para atingi-la, porte da escola, rede e IDHM. O estado do aluno NÃO entra — ver slide 4.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124712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82296" cy="2286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059936"/>
            <a:ext cx="10835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A regra que garante que funciona na prática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480560"/>
            <a:ext cx="10835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Nenhuma variável pode depender da prova que estamos tentando prever. Isso exclui a nota do próprio aluno (que define o resultado) e o indicador municipal do mesmo ano (que inclui o próprio aluno). Tudo que entra estaria disponível no início do ano letivo — que é quando um gestor precisa da resposta.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RIGOR DA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Por que confiar no resultado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Testado em 1.164 municípios que o modelo nunca viu — mede se funciona num município novo, não se decorou os conhecidos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Comparado com um palpite trivial: o modelo separa risco de não-risco com AUC 0,63, contra 0,50 do palpite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Escolhido entre 3 algoritmos pela regra mais conservadora: Regressão Logística — o mais simples entre os que empataram dentro da margem de erro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Probabilidades calibradas: quando o modelo diz 60%, cerca de 60% de fato se alfabetizam — por isso a soma por município pode ser comparada com a meta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O estado do aluno ficou de fora: com um só ano de treino, ele aprenderia o choque daquele ano (ex.: enchentes no RS em 2024) e o contaria duas vezes na projeção do ano seguinte</a:t>
            </a:r>
          </a:p>
        </p:txBody>
      </p:sp>
      <p:pic>
        <p:nvPicPr>
          <p:cNvPr id="9" name="Picture 8" descr="07_calib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463040"/>
            <a:ext cx="513804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Principais insights: o que mais pesa no resultado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pic>
        <p:nvPicPr>
          <p:cNvPr id="8" name="Picture 7" descr="09_importancia_permut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6711086" cy="4983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Os três fatores mais decisivos: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Taxa de alfabetização do município (ano anterior)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Proficiência média do município (ano anterior)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Participação na avaliação (ano anterior)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42976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253A"/>
                </a:solidFill>
                <a:latin typeface="Calibri"/>
              </a:rPr>
              <a:t>O histórico educacional do município explica mais do que o desenvolvimento socioeconômico amplo (IDHM). Isso aponta para alavancas de gestão educacional, que respondem em um ano letivo — não só para indicadores estruturais, que levam uma década para mudar.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Onde agir primeiro: priorização de alunos e municípios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1,5×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23160"/>
            <a:ext cx="3163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mais alunos em risco no grupo priorizado do que escolhendo ao acaso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27248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Calibri"/>
              </a:rPr>
              <a:t>top 20%: 58% em risco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0,74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572000"/>
            <a:ext cx="3163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correlação entre taxa prevista e real por município (2024)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276088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86C1"/>
                </a:solidFill>
                <a:latin typeface="Calibri"/>
              </a:rPr>
              <a:t>erro médio 9,7 p.p.</a:t>
            </a:r>
          </a:p>
        </p:txBody>
      </p:sp>
      <p:pic>
        <p:nvPicPr>
          <p:cNvPr id="16" name="Picture 15" descr="13_ranking_risco_municip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7008576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Antecipar quem não vai bater a meta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82296" cy="23774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Teste no passado (2024)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57400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Com dados de 2023, o modelo apontou 2.169 municípios abaixo da meta de 2024. Desses, 61% de fato ficaram abaixo — e o alerta encontrou 61% de todos os que ficaram.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82296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197096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Projeção 2025: dois cenários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61772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Entre 1.757 e 2.382 de 4.760 municípios abaixo da meta. O Brasil de 2025 já saiu: 66,0%, contra 61,1% projetados — o modelo acerta a direção e subestima o nível; o cenário ajustado corrige o nível sem mudar a ordem de prioridade.</a:t>
            </a:r>
          </a:p>
        </p:txBody>
      </p:sp>
      <p:pic>
        <p:nvPicPr>
          <p:cNvPr id="16" name="Picture 15" descr="16_projecao_m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554480"/>
            <a:ext cx="6035040" cy="34299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PADRÕES REGIONAIS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Municípios parecidos, problemas parecidos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pic>
        <p:nvPicPr>
          <p:cNvPr id="8" name="Picture 7" descr="14_clusters_per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6035040" cy="3534410"/>
          </a:xfrm>
          <a:prstGeom prst="rect">
            <a:avLst/>
          </a:prstGeom>
        </p:spPr>
      </p:pic>
      <p:pic>
        <p:nvPicPr>
          <p:cNvPr id="9" name="Picture 8" descr="15_clusters_por_regi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600200"/>
            <a:ext cx="5486400" cy="25899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448056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253A"/>
                </a:solidFill>
                <a:latin typeface="Calibri"/>
              </a:rPr>
              <a:t>3 perfis de município. Destaque: 93% dos municípios do Ceará estão no perfil de maior alfabetização (média 90%), com IDHM Educação de 0,55 — bem abaixo do perfil mais rico (0,64, alfabetização de 62%). Contexto desfavorável não é destino: o estado mantém programa próprio de alfabetização (PAIC) há duas décadas.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APLICAÇÃO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Como o modelo apoia políticas públicas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82296" cy="31089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1. Priorizar municípios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57400"/>
            <a:ext cx="3246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Ranking de risco antes do ano letivo para direcionar formação de professores, material e acompanhamento técnico do Compromisso Criança Alfabetizada.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0876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08760"/>
            <a:ext cx="82296" cy="310896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63677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2. Alerta de metas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057400"/>
            <a:ext cx="3246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Lista de municípios com risco de não atingir a meta do ano, a tempo de pactuar apoio — em vez de descobrir depois do resultado.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50876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508760"/>
            <a:ext cx="82296" cy="310896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63677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3. Monitorar a cada 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7400"/>
            <a:ext cx="3246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A pipeline da Fase 2 atualiza a base a cada nova divulgação do INEP; o modelo reavalia o risco sem trabalho manual.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46320"/>
            <a:ext cx="113385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10881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1A253A"/>
                </a:solidFill>
                <a:latin typeface="Calibri"/>
              </a:rPr>
              <a:t>Uso responsável: o modelo indica onde concentrar APOIO, não quem punir. Uma predição de risco nunca deve reduzir recursos de um município ou rotular um aluno — o erro individual é alto; o valor está na priorização agregada.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Limitações e 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O que o modelo não faz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Prever com precisão um aluno específico — faltam dados individuais (frequência, histórico, família)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Garantir que 2025 se comporte como 2024 — só há um par de anos para aprender a relação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Explicar causa — mostra associação, não efeito de intervenção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8B4C"/>
                </a:solidFill>
                <a:latin typeface="Calibri"/>
              </a:rPr>
              <a:t>Próximos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01168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E8B4C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Incorporar Censo Escolar (infraestrutura, formação docente) e CadÚnico (vulnerabilidade familiar)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8B4C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Revalidar a cada nova edição do INEP e acompanhar a precisão do alerta de metas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8B4C"/>
                </a:solidFill>
                <a:latin typeface="Calibri"/>
              </a:rPr>
              <a:t>▶  </a:t>
            </a:r>
            <a:r>
              <a:rPr sz="1400">
                <a:solidFill>
                  <a:srgbClr val="444444"/>
                </a:solidFill>
                <a:latin typeface="Calibri"/>
              </a:rPr>
              <a:t>Piloto com uma secretaria estadual: priorizar municípios e medir o efeito do apoio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